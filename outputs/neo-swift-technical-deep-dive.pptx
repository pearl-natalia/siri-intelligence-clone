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8f3404160a4c01" /><Relationship Type="http://schemas.openxmlformats.org/officeDocument/2006/relationships/extended-properties" Target="/docProps/app.xml" Id="Ra34d65000286471d" /><Relationship Type="http://schemas.openxmlformats.org/officeDocument/2006/relationships/officeDocument" Target="/ppt/presentation.xml" Id="R56e6f1450d69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7673cd16f94ccb"/>
  </p:sldMasterIdLst>
  <p:notesMasterIdLst>
    <p:notesMasterId xmlns:r="http://schemas.openxmlformats.org/officeDocument/2006/relationships" r:id="Rf8df7d0c4d784698"/>
  </p:notesMasterIdLst>
  <p:sldIdLst>
    <p:sldId xmlns:r="http://schemas.openxmlformats.org/officeDocument/2006/relationships" id="256" r:id="R23bf4f4937f6464b"/>
    <p:sldId xmlns:r="http://schemas.openxmlformats.org/officeDocument/2006/relationships" id="257" r:id="R14e35c39fe014c16"/>
    <p:sldId xmlns:r="http://schemas.openxmlformats.org/officeDocument/2006/relationships" id="258" r:id="R8da54e8807314388"/>
    <p:sldId xmlns:r="http://schemas.openxmlformats.org/officeDocument/2006/relationships" id="259" r:id="Rfb6ccffd9758425e"/>
    <p:sldId xmlns:r="http://schemas.openxmlformats.org/officeDocument/2006/relationships" id="260" r:id="R2d35cfe96da5419c"/>
    <p:sldId xmlns:r="http://schemas.openxmlformats.org/officeDocument/2006/relationships" id="261" r:id="R0cdd91a7b93149d9"/>
    <p:sldId xmlns:r="http://schemas.openxmlformats.org/officeDocument/2006/relationships" id="262" r:id="Rf3a9a158aa1541ae"/>
    <p:sldId xmlns:r="http://schemas.openxmlformats.org/officeDocument/2006/relationships" id="263" r:id="R881f5c5ac37e431c"/>
    <p:sldId xmlns:r="http://schemas.openxmlformats.org/officeDocument/2006/relationships" id="264" r:id="R9bb063fff5824eff"/>
    <p:sldId xmlns:r="http://schemas.openxmlformats.org/officeDocument/2006/relationships" id="265" r:id="Rf32219e706b241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4eb82d53d40d4" /><Relationship Type="http://schemas.openxmlformats.org/officeDocument/2006/relationships/slideMaster" Target="/ppt/slideMasters/slideMaster1.xml" Id="Re17673cd16f94ccb" /><Relationship Type="http://schemas.openxmlformats.org/officeDocument/2006/relationships/notesMaster" Target="/ppt/notesMasters/notesMaster1.xml" Id="Rf8df7d0c4d784698" /><Relationship Type="http://schemas.openxmlformats.org/officeDocument/2006/relationships/presProps" Target="/ppt/presProps.xml" Id="R37d97bbd91164922" /><Relationship Type="http://schemas.openxmlformats.org/officeDocument/2006/relationships/tableStyles" Target="/ppt/tableStyles.xml" Id="R6f6528793e0d4206" /><Relationship Type="http://schemas.openxmlformats.org/officeDocument/2006/relationships/slide" Target="/ppt/slides/slide1.xml" Id="R23bf4f4937f6464b" /><Relationship Type="http://schemas.openxmlformats.org/officeDocument/2006/relationships/slide" Target="/ppt/slides/slide2.xml" Id="R14e35c39fe014c16" /><Relationship Type="http://schemas.openxmlformats.org/officeDocument/2006/relationships/slide" Target="/ppt/slides/slide3.xml" Id="R8da54e8807314388" /><Relationship Type="http://schemas.openxmlformats.org/officeDocument/2006/relationships/slide" Target="/ppt/slides/slide4.xml" Id="Rfb6ccffd9758425e" /><Relationship Type="http://schemas.openxmlformats.org/officeDocument/2006/relationships/slide" Target="/ppt/slides/slide5.xml" Id="R2d35cfe96da5419c" /><Relationship Type="http://schemas.openxmlformats.org/officeDocument/2006/relationships/slide" Target="/ppt/slides/slide6.xml" Id="R0cdd91a7b93149d9" /><Relationship Type="http://schemas.openxmlformats.org/officeDocument/2006/relationships/slide" Target="/ppt/slides/slide7.xml" Id="Rf3a9a158aa1541ae" /><Relationship Type="http://schemas.openxmlformats.org/officeDocument/2006/relationships/slide" Target="/ppt/slides/slide8.xml" Id="R881f5c5ac37e431c" /><Relationship Type="http://schemas.openxmlformats.org/officeDocument/2006/relationships/slide" Target="/ppt/slides/slide9.xml" Id="R9bb063fff5824eff" /><Relationship Type="http://schemas.openxmlformats.org/officeDocument/2006/relationships/slide" Target="/ppt/slides/slide10.xml" Id="Rf32219e706b2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d76d1162bc4c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604aa7acd4b8e" /><Relationship Type="http://schemas.openxmlformats.org/officeDocument/2006/relationships/notesMaster" Target="/ppt/notesMasters/notesMaster1.xml" Id="R82c4c079d9894e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f3aaf591148d1" /><Relationship Type="http://schemas.openxmlformats.org/officeDocument/2006/relationships/notesMaster" Target="/ppt/notesMasters/notesMaster1.xml" Id="Rb87e4e1ef1cb40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d1054011f849ce" /><Relationship Type="http://schemas.openxmlformats.org/officeDocument/2006/relationships/notesMaster" Target="/ppt/notesMasters/notesMaster1.xml" Id="Ra9535c355cfd4e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778529a7ba46b7" /><Relationship Type="http://schemas.openxmlformats.org/officeDocument/2006/relationships/notesMaster" Target="/ppt/notesMasters/notesMaster1.xml" Id="R60bf40d3698b4c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2b7fa54e6427d" /><Relationship Type="http://schemas.openxmlformats.org/officeDocument/2006/relationships/notesMaster" Target="/ppt/notesMasters/notesMaster1.xml" Id="R06122164967c40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2bc212795471f" /><Relationship Type="http://schemas.openxmlformats.org/officeDocument/2006/relationships/notesMaster" Target="/ppt/notesMasters/notesMaster1.xml" Id="R1ce54b21679c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694225bbb6475b" /><Relationship Type="http://schemas.openxmlformats.org/officeDocument/2006/relationships/notesMaster" Target="/ppt/notesMasters/notesMaster1.xml" Id="R39a6f2d7e8664d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c4686af2cb4a36" /><Relationship Type="http://schemas.openxmlformats.org/officeDocument/2006/relationships/notesMaster" Target="/ppt/notesMasters/notesMaster1.xml" Id="Rdf367b8730584d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f33919d59a47a9" /><Relationship Type="http://schemas.openxmlformats.org/officeDocument/2006/relationships/notesMaster" Target="/ppt/notesMasters/notesMaster1.xml" Id="R0722c803447f48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185da5a594224" /><Relationship Type="http://schemas.openxmlformats.org/officeDocument/2006/relationships/notesMaster" Target="/ppt/notesMasters/notesMaster1.xml" Id="R4f5ddf3b423046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one-liner: Swift turns spoken natural language into native Mac actions.</a:t>
            </a:r>
          </a:p>
          <a:p xmlns:a="http://schemas.openxmlformats.org/drawingml/2006/main">
            <a:r>
              <a:t>Immediately say what makes it different from simply rebuilding Siri: flexible intent, context, memory, chaining, and recoverable execution.</a:t>
            </a:r>
          </a:p>
          <a:p xmlns:a="http://schemas.openxmlformats.org/drawingml/2006/main">
            <a:r>
              <a:t>Be careful: Siri is faster and more deeply integrated. Swift explores a different axis: agentic reasoning and transparent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 a short recorded demo, not a live demo. The point is to give Jordan a concrete mental model before the architecture.</a:t>
            </a:r>
          </a:p>
          <a:p xmlns:a="http://schemas.openxmlformats.org/drawingml/2006/main">
            <a:r>
              <a:t>If you only show one scenario, show the cross-domain one: calendar plus message. It demonstrates tool chaining.</a:t>
            </a:r>
          </a:p>
          <a:p xmlns:a="http://schemas.openxmlformats.org/drawingml/2006/main">
            <a:r>
              <a:t>After the video, say: now I’ll walk through the system that makes this possible.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anchor slide. Every technical detail later maps back to one part of this path.</a:t>
            </a:r>
          </a:p>
          <a:p xmlns:a="http://schemas.openxmlformats.org/drawingml/2006/main">
            <a:r>
              <a:t>Say: the request starts as voice, becomes text, gets enriched, goes to a tool-calling agent, and then executes against native apps.</a:t>
            </a:r>
          </a:p>
          <a:p xmlns:a="http://schemas.openxmlformats.org/drawingml/2006/main">
            <a:r>
              <a:t>Mention that logging is built into the loop, so reliability can be measured instead of guessed.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you moved beyond raw volume thresholds: loud non-speech sounds can trigger volume, while VAD is trained to detect speech.</a:t>
            </a:r>
          </a:p>
          <a:p xmlns:a="http://schemas.openxmlformats.org/drawingml/2006/main">
            <a:r>
              <a:t>Do not overclaim. Silero distinguishes speech from non-speech, not Pearl from other speakers.</a:t>
            </a:r>
          </a:p>
          <a:p xmlns:a="http://schemas.openxmlformats.org/drawingml/2006/main">
            <a:r>
              <a:t>Mention the future improvement: true end-of-utterance detection or speaker recognition.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personalization and latency in one place.</a:t>
            </a:r>
          </a:p>
          <a:p xmlns:a="http://schemas.openxmlformats.org/drawingml/2006/main">
            <a:r>
              <a:t>Context answers references like this, that, selected text, or what’s on screen.</a:t>
            </a:r>
          </a:p>
          <a:p xmlns:a="http://schemas.openxmlformats.org/drawingml/2006/main">
            <a:r>
              <a:t>Memory stores facts, not raw turns. That was a deliberate change to reduce noise.</a:t>
            </a:r>
          </a:p>
          <a:p xmlns:a="http://schemas.openxmlformats.org/drawingml/2006/main">
            <a:r>
              <a:t>Both branches run in parallel because neither depends on the 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original classifier was an extra LLM call and a hardcoded bottleneck.</a:t>
            </a:r>
          </a:p>
          <a:p xmlns:a="http://schemas.openxmlformats.org/drawingml/2006/main">
            <a:r>
              <a:t>Typed function calling lets Gemini choose the tool and produce structured arguments directly.</a:t>
            </a:r>
          </a:p>
          <a:p xmlns:a="http://schemas.openxmlformats.org/drawingml/2006/main">
            <a:r>
              <a:t>This is the transition from command router to agent executor.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explicit: Gemini decides it is done when it returns text instead of another function call.</a:t>
            </a:r>
          </a:p>
          <a:p xmlns:a="http://schemas.openxmlformats.org/drawingml/2006/main">
            <a:r>
              <a:t>The max of 5 is a guardrail against infinite loops. Normal voice commands take 1 to 3 calls.</a:t>
            </a:r>
          </a:p>
          <a:p xmlns:a="http://schemas.openxmlformats.org/drawingml/2006/main">
            <a:r>
              <a:t>This is where cross-domain chaining comes from. It was not possible in the old one-route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technical slide. Slow down.</a:t>
            </a:r>
          </a:p>
          <a:p xmlns:a="http://schemas.openxmlformats.org/drawingml/2006/main">
            <a:r>
              <a:t>Define ReAct: reason, act, observe, repeat.</a:t>
            </a:r>
          </a:p>
          <a:p xmlns:a="http://schemas.openxmlformats.org/drawingml/2006/main">
            <a:r>
              <a:t>Make the distinction: agent.py chooses the tool; react.py retries the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Reliability is not vibes. Every tool returns a success boolean and message.</a:t>
            </a:r>
          </a:p>
          <a:p xmlns:a="http://schemas.openxmlformats.org/drawingml/2006/main">
            <a:r>
              <a:t>Eval logging records what happened and how long it took.</a:t>
            </a:r>
          </a:p>
          <a:p xmlns:a="http://schemas.openxmlformats.org/drawingml/2006/main">
            <a:r>
              <a:t>Give the latency numbers as approximate. If you run eval before the interview, replace these with real measured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synthesis slide. Show that choices were intentional, not accidental.</a:t>
            </a:r>
          </a:p>
          <a:p xmlns:a="http://schemas.openxmlformats.org/drawingml/2006/main">
            <a:r>
              <a:t>For weaknesses, be direct: latency and app integration depth.</a:t>
            </a:r>
          </a:p>
          <a:p xmlns:a="http://schemas.openxmlformats.org/drawingml/2006/main">
            <a:r>
              <a:t>Close with the main learning: the hard part is not just the LLM; it is the system around it: context, tools, feedback, memory, and reliability.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c50c500e342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6e5a5de4e149cd" /><Relationship Type="http://schemas.openxmlformats.org/officeDocument/2006/relationships/slideLayout" Target="/ppt/slideLayouts/slideLayout1.xml" Id="R200cb93e78ac43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0cb93e78ac43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f7d657de844c0" /><Relationship Type="http://schemas.openxmlformats.org/officeDocument/2006/relationships/notesSlide" Target="/ppt/notesSlides/notesSlide1.xml" Id="Rfd6e6b5ba6fd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55e11267c4ff5" /><Relationship Type="http://schemas.openxmlformats.org/officeDocument/2006/relationships/notesSlide" Target="/ppt/notesSlides/notesSlide2.xml" Id="Rac495c090c244d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b4469f20b49e6" /><Relationship Type="http://schemas.openxmlformats.org/officeDocument/2006/relationships/notesSlide" Target="/ppt/notesSlides/notesSlide3.xml" Id="Rf533af06aece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0c446dde7491b" /><Relationship Type="http://schemas.openxmlformats.org/officeDocument/2006/relationships/notesSlide" Target="/ppt/notesSlides/notesSlide4.xml" Id="R82b092cd1e9143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82eb19fe2424f" /><Relationship Type="http://schemas.openxmlformats.org/officeDocument/2006/relationships/notesSlide" Target="/ppt/notesSlides/notesSlide5.xml" Id="Ref1edc338840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008b4c84649d9" /><Relationship Type="http://schemas.openxmlformats.org/officeDocument/2006/relationships/notesSlide" Target="/ppt/notesSlides/notesSlide6.xml" Id="R1a1cd305c33a4b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bb61f236942b8" /><Relationship Type="http://schemas.openxmlformats.org/officeDocument/2006/relationships/notesSlide" Target="/ppt/notesSlides/notesSlide7.xml" Id="Raff74e96f21c4e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6a27515f54933" /><Relationship Type="http://schemas.openxmlformats.org/officeDocument/2006/relationships/notesSlide" Target="/ppt/notesSlides/notesSlide8.xml" Id="Rbb4011e85cd040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d56c83f4740c1" /><Relationship Type="http://schemas.openxmlformats.org/officeDocument/2006/relationships/notesSlide" Target="/ppt/notesSlides/notesSlide9.xml" Id="Rd3a8cb64da914b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67837a4cf4ba7" /><Relationship Type="http://schemas.openxmlformats.org/officeDocument/2006/relationships/notesSlide" Target="/ppt/notesSlides/notesSlide10.xml" Id="Rf920ade6f7f743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1CE85-EE55-434A-94C0-21CC0E05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050505"/>
                </a:solidFill>
              </a:defRPr>
            </a:pPr>
            <a:r>
              <a:rPr sz="6000" b="1">
                <a:solidFill>
                  <a:srgbClr val="050505"/>
                </a:solidFill>
              </a:rPr>
              <a:t>Swift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43436-46D1-407F-9736-9A04203B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An agentic macOS voice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43F74-EF28-42C7-8438-920BE51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Natural language speech → tool reasoning → native Mac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2C734-77C1-47F6-88F2-0C9BE126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65F61-F9D5-40F5-BC76-CCD506C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33E27-5B87-4C10-9253-C620916F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8DAE8-F285-460A-8B8C-3A55F4F7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Flexible 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C4627-2EF7-4E3E-B949-85A43B6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Understands non-literal phrasing without fixed command templates.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B447E-1825-4C25-B5D4-3CDD5657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Context 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335AC-D831-4395-9440-29B89D8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Can use selected text, clipboard, screen content, and user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06A842-D356-4ECB-84D4-6671B3B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Recoverable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7A8F4-CECF-48FF-9F6B-9CA9241C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AppleScript failures are observed and retried through a ReAct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94886-0B6B-4940-A399-D1A434F4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50505"/>
                </a:solidFill>
              </a:defRPr>
            </a:pPr>
            <a:r>
              <a:rPr sz="1725" b="0">
                <a:solidFill>
                  <a:srgbClr val="050505"/>
                </a:solidFill>
              </a:rPr>
              <a:t>Not trying to beat Siri on latency. Exploring transparent, agentic desktop execution.</a:t>
            </a:r>
          </a:p>
        </p:txBody>
      </p:sp>
    </p:spTree>
    <p:extLst>
      <p:ext uri="{BB962C8B-B14F-4D97-AF65-F5344CB8AC3E}">
        <p14:creationId xmlns:p14="http://schemas.microsoft.com/office/powerpoint/2010/main" val="109979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897FF-D8B9-46FF-ACA3-708A1B3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7712C-2DAA-4ED6-AC68-8A459ABC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Short demo: concrete behavior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932E3-6BEF-466B-9304-6EC7441C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8F127-9C0C-42EA-8484-E4D4A06D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009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9A05C-A2D1-4C05-A223-9CE44A4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50505"/>
                </a:solidFill>
              </a:defRPr>
            </a:pPr>
            <a:r>
              <a:rPr sz="2550" b="1">
                <a:solidFill>
                  <a:srgbClr val="050505"/>
                </a:solidFill>
              </a:rPr>
              <a:t>DEMO VIDEO 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496EB-7F77-4D68-878D-432423B4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Recommended clip: 45–60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EE188-5E1C-49AE-B2B1-D3F8764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864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2C4B9-DAC2-48D9-93A6-7DE23BC4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76875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“Remind me to call mom at 6.”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38E58-8AC0-4426-AAE2-37AFF8D4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8102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04FB7-D598-4939-8165-D2176338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00725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“Send this to John.”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F3422-EB69-430B-A514-4F5155F0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1341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3E5E9-47CD-4608-B783-2C634D6D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124575"/>
            <a:ext cx="830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“Cancel my meeting tomorrow and text John that I’m free.”</a:t>
            </a:r>
          </a:p>
        </p:txBody>
      </p:sp>
    </p:spTree>
    <p:extLst>
      <p:ext uri="{BB962C8B-B14F-4D97-AF65-F5344CB8AC3E}">
        <p14:creationId xmlns:p14="http://schemas.microsoft.com/office/powerpoint/2010/main" val="17996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71A4E-B743-4383-A255-FD1108A3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23384-5BE5-40B9-9F14-D228305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End-to-end request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6E3E4-71D0-41DE-A76F-FA1410AA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D9C05-7C49-4DCD-A521-55C25A41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0ED15-5AA3-4896-A213-213A6A29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BA55E-1C54-4FD6-BF6A-D4A26F8E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microphone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674D4-4E68-405C-8DE7-ED2C1DA8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480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6D722-F5F4-4DB6-AC01-9D13741F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28875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041E5-C7E8-4CF2-A2D7-CE08A424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76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Whisper + VAD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608BE-4536-4EF2-B78E-D7A18459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146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speech to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37E52-951B-4A29-9CF4-3FFF2EAA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480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B157A-F7D6-446C-874E-A72D6E28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28875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1A526-7BB0-48FA-A7F2-B28D5458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76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Context +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2CAD5-3547-45F7-9F01-96A25EE2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146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parallel enrichment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AD222-403D-4E93-A750-51FEFA1A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480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6DC06-C768-4E85-A1BB-890F0778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CDB0C-C039-4716-B0EC-DADC1AB9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76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Gemini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85E2C-FD93-4515-BC95-37468F2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146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tool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9DC6A8-BE3B-4519-955B-CC360806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326CA-B5CF-41AA-A453-40762C9B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260CF-F5F6-4B3B-9445-AD9FD88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76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Typed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8F602-C136-4374-AAD2-E0DA16B5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146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structured calls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333CE-32C1-42E2-8583-92B2D25B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48000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2650B-3579-42A3-A992-4402074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28875"/>
            <a:ext cx="1428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BA98D0-D85E-42F5-BC08-5B07EC31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76525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macOS apps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8D101-7423-4DAD-AB1E-2A989393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14675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AppleScript / APIs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26E41-1AC3-474F-B9D4-876EBCB2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Every request is logged: input, tool, success/failure, latency, error.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A4DC38-FC8C-4F88-87C0-6618A3E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530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architecture is intentionally inspectable: each layer has a concrete role and measurable output.</a:t>
            </a:r>
          </a:p>
        </p:txBody>
      </p:sp>
    </p:spTree>
    <p:extLst>
      <p:ext uri="{BB962C8B-B14F-4D97-AF65-F5344CB8AC3E}">
        <p14:creationId xmlns:p14="http://schemas.microsoft.com/office/powerpoint/2010/main" val="897754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EFD81-15D8-4F52-A9BB-CF8D9151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E29B5-65B6-417F-A053-0FF1A8ED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Speech input: Whisper + Silero VAD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5BB26-B110-4328-84F2-B881DA4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4F7D9-4478-4FCF-B0FF-0706B7D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BE693-09F7-4C1B-9039-69D5A1DD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9033-1296-4DCC-99DC-8F856CA4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Record audio chunks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D59AC-8CA1-4342-B239-A880BA1E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479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sounddevice captures 512-sample chunks from the microphone.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34298-5362-4A95-853B-8F43062F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D33C6-7B55-40F6-81E4-A3F858C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12AB6-C8D2-4140-A7F4-D8AD3AB5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Detect speech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DFD61-D1D6-477D-AC35-25CE3096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479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Silero VAD returns a probability that the chunk contains human speech.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33578-D496-460A-936C-BEFDB63F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5405A-B408-4BA2-80FF-A27FB3A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050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AE15E-0BC3-4743-9CAF-342455FE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95500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Stop after silence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598BA-08D2-466E-B527-78EBEE0A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479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If speech is not detected for the silence window, recording stops.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1B49B-92D2-492E-9194-31C9567B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338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63040-192C-4FB7-95A4-14F764A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FFEE1-E2AF-457A-B761-C35586AD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8766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Transcribe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D63BA-014F-46A8-9939-C579684C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2291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Whisper transcribes the full recorded audio buffer locally.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A3D6C-6EBE-4DA4-856B-5DE52BCE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33800"/>
            <a:ext cx="33813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87203-E4C4-4718-8F70-3F08F3F6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862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CD8DD-01AD-40EE-9F87-C4746B33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876675"/>
            <a:ext cx="242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Persist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7E81D-A66B-4554-9F4F-22926A06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291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transcript is written to transcription.txt for the request loop.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E8678-3488-4D7B-8FA3-DF7F621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76875"/>
            <a:ext cx="847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F45AB-8051-4FA5-A5E9-C3DF68B2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3880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0505"/>
                </a:solidFill>
              </a:defRPr>
            </a:pPr>
            <a:r>
              <a:rPr sz="1500" b="1">
                <a:solidFill>
                  <a:srgbClr val="050505"/>
                </a:solidFill>
              </a:rPr>
              <a:t>Known limitation: VAD detects speech, not speaker identity.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0552DD-7A4E-49D5-8C42-54162E15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2455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Background human speech can still confuse it.</a:t>
            </a:r>
          </a:p>
        </p:txBody>
      </p:sp>
    </p:spTree>
    <p:extLst>
      <p:ext uri="{BB962C8B-B14F-4D97-AF65-F5344CB8AC3E}">
        <p14:creationId xmlns:p14="http://schemas.microsoft.com/office/powerpoint/2010/main" val="2079836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739E9-AFF2-43B1-A93B-4C6FFBD5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CE196-B858-4255-801E-6D723BF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Context and memory run in parallel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3D38A-4B47-4C0F-AADA-E65E0FAD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39D58-5CE2-48A7-AF57-8E858F87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550E-22E5-40BE-8E66-FDBC750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050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74542-DD0F-4911-8BD2-9B933686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0505"/>
                </a:solidFill>
              </a:defRPr>
            </a:pPr>
            <a:r>
              <a:rPr sz="2175" b="1">
                <a:solidFill>
                  <a:srgbClr val="050505"/>
                </a:solidFill>
              </a:rPr>
              <a:t>Context enrichment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D49E6-0EBB-4071-8E0B-84D46E2C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0DAE3-9EFF-4181-B5F1-098C6ED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6225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Gemini JSON mode returns two booleans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92357-72EB-46E3-95F4-543E41A2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BDBD9-11A7-4CFA-8781-35F46D47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Selected text: save clipboard → Cmd+C → read → restore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CC185-7B31-4372-B7C2-2031ABFC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242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C27F1-9D5C-4E46-9C0C-7F7BA179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Screen context: screencapture → base64 PNG → multimodal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69169-286B-4590-860F-AFF78474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50505"/>
                </a:solidFill>
              </a:defRPr>
            </a:pPr>
            <a:r>
              <a:rPr sz="2175" b="1">
                <a:solidFill>
                  <a:srgbClr val="050505"/>
                </a:solidFill>
              </a:rPr>
              <a:t>Long-term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06F44-D8FC-45FD-B286-CF048177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717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D5068-FB29-418F-9986-DEFCF348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6225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Session ends: Gemini extracts durable user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3E813-76F6-436C-BB47-365C83D7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480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B3C16-9C75-4A87-82FB-A1DE1711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3850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Facts embedded with all-MiniLM-L6-v2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A53A8-E6D7-4433-9DB5-590DF56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242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6B706-1AD2-4514-8D45-C316D2AC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4750"/>
            <a:ext cx="3638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ChromaDB retrieves top 5 relevant facts per 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717D0-CEC5-4708-BD80-C2EA03F2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7662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4136F-872B-45B1-8224-21F71E7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ThreadPoolExecutor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B30D4-E370-44A8-8B75-BFD80A86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Total wait ≈ max(context, memory), not context + memory.</a:t>
            </a:r>
          </a:p>
        </p:txBody>
      </p:sp>
    </p:spTree>
    <p:extLst>
      <p:ext uri="{BB962C8B-B14F-4D97-AF65-F5344CB8AC3E}">
        <p14:creationId xmlns:p14="http://schemas.microsoft.com/office/powerpoint/2010/main" val="346529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82ACC-2D5F-447D-9740-6ED533B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ACE58-82CD-4852-856D-7F7DE8B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From classifier routing to tool calling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FD714-C93C-400C-BAA4-1916233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5C927-1A5C-42ED-9F20-AA563E86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9CC7C-8B52-4F58-B418-BC15C02E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28BE2-A8C3-4546-84F9-9F413E63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LLM classifier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666AC-60BE-488E-8774-087B307D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→ category</a:t>
            </a:r>
          </a:p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→ hardcoded route</a:t>
            </a:r>
          </a:p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→ exactly one handler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CD07D-54F2-4249-AF2E-0F57A07C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B344E-AFFD-4374-A015-27D53039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191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ED558-8C4A-4315-B4FB-34D5405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Gemini function calling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350F8-5E1E-4BB0-B21F-29ADD93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→ typed tool registry</a:t>
            </a:r>
          </a:p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→ structured arguments</a:t>
            </a:r>
          </a:p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→ multi-tool chaining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386AF-CD9B-41EA-8472-E975EF2C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7AE16-15F7-4ECA-8394-58251CD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“Remind me to call mom at 6pm”  →  create_reminder({ task: “call mom”, time: “today at 6pm” })</a:t>
            </a:r>
          </a:p>
        </p:txBody>
      </p:sp>
    </p:spTree>
    <p:extLst>
      <p:ext uri="{BB962C8B-B14F-4D97-AF65-F5344CB8AC3E}">
        <p14:creationId xmlns:p14="http://schemas.microsoft.com/office/powerpoint/2010/main" val="260366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93502-C3EA-4ED5-AE38-3A39674E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CBEC-9AE5-4D4C-B8C5-B7CAF9AD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Agent loop enables cross-domain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766D7-C29B-4D39-B67A-E9883C95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CD0E5-BD73-40BC-BDA1-6F37313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4FFF6-0014-44F9-9F95-2671DF1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Loop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2ABD7-9CFF-43C5-BC10-590CEFC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for up to 5 iterations: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  send contents + tools to Gemini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  if Gemini returns text: done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  if Gemini returns function call: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    execute tool</a:t>
            </a:r>
          </a:p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    feed result 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E988-177B-4561-B0EF-C609599D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52625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CE17-457B-49B8-86D9-81AF7B9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28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Cross-domain 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340CC-33B0-4EAF-A9F2-736EEB85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382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35D72-8B0E-42DD-861B-E072F32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4D478-3603-45CD-889D-76AB7E0A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manage_calendar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BD74A-A4C6-45F3-8DA3-4868B1C6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Cancel or inspect the meeting.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77D8D-ABCF-4B0C-8E2F-96FC37C4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57600"/>
            <a:ext cx="382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FAB9F-6749-4F89-B1CB-38849C73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AD76E-6C6F-4A9F-8E67-233E8F9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10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observe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F430E-BF61-419D-81AD-F33B58C3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Calendar returns success + message.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88A12-492F-4223-ADF6-93188F3C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3829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D189A-061C-4F82-90DC-2E7B73A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053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283DC-D854-46CF-94A0-433D04FA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86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send_imessage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C39F8-D6C7-457A-A105-262EB213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911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Text John with the update.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0F358-1187-4A64-9B6E-4AFF9EFD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102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Done = Gemini stops calling tools and returns normal text. Five iterations is a safety cap.</a:t>
            </a:r>
          </a:p>
        </p:txBody>
      </p:sp>
    </p:spTree>
    <p:extLst>
      <p:ext uri="{BB962C8B-B14F-4D97-AF65-F5344CB8AC3E}">
        <p14:creationId xmlns:p14="http://schemas.microsoft.com/office/powerpoint/2010/main" val="1505782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7356A-9558-4941-8D49-5D9A066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D31B4-7B21-4507-94AE-C354B9B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ReAct loop for brittle AppleScript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26632-E2BC-47E6-93C2-B33475BB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90765-B784-4451-A196-16513977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476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A9906-315B-448B-B67F-43440722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Generate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2EA6E-441B-4004-A639-A2FC6291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Gemini writes AppleScript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C8F72-D288-4DF9-8D12-EDCA4284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575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A840D-6EBF-4DCE-BB0E-5EC76114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1476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A7D83-457D-486E-96D5-5B8F0E2B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8CF9F-3BA8-4057-AD1F-AF83E4D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766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osascript executes 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C2CE0-BE7E-42EE-8963-5A3ADB6E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2DE3A-DF1B-4B6E-A36E-9E0FD06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476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6C1E4-7859-450A-8452-775E69A3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72778-16E9-459C-8C5E-B5091CF2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766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stdout / stderr captured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F930E-8D4A-4A7B-B48A-F275CAC0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23961-DF63-496C-8B39-B35532F2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476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2E80F-5C3E-4F4B-839F-98D5A9CC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Retry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D4DE57-B3C5-4C4E-9594-B2E8B3C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766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error fed back to Gemini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A9DA9-BE64-4216-A526-25708111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3785D-8A49-4439-A1D4-07FB0BE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476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4B88B-528E-46C2-8488-691D90E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194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8DEC54-EAE9-4D68-8B62-4A0E645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766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structured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437B2-3438-4FA0-A6C1-9023B846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Outer loop chooses tools. Inner ReAct loop makes AppleScript execution recoverable.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A7DAE-E78B-4C00-A02C-5520637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91A57-7897-4A88-8B4B-7C08DA90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572125"/>
            <a:ext cx="811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AppleScript can fail because of app state, permissions, names, or syntax.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298CA-500E-48B6-BCB6-0DF35D3D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905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B0156D-5D59-4F9D-95A9-7D249633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895975"/>
            <a:ext cx="811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Instead of failing immediately, Swift gives Gemini the error and asks for a corrected script.</a:t>
            </a:r>
          </a:p>
        </p:txBody>
      </p:sp>
    </p:spTree>
    <p:extLst>
      <p:ext uri="{BB962C8B-B14F-4D97-AF65-F5344CB8AC3E}">
        <p14:creationId xmlns:p14="http://schemas.microsoft.com/office/powerpoint/2010/main" val="1863673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47C24-1579-4DFD-AFCA-164139CF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D18F0-9B45-4BA1-9CE7-C29BEE96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Reliability and latency are measured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53428-A235-428D-8934-D3F7BF87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83353-246A-4EFD-A23A-10F4F21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90D86-79E8-4E53-A994-C30F607E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Structured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22F67-80DE-484F-ABFC-CA50986C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{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  success: boolean,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  message: string</a:t>
            </a:r>
          </a:p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29126-635C-4BDA-A638-2D1E8905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AED4A-5D68-4B63-971D-96C8B8F8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Eval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3302B-1663-43EB-861C-98D449CB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43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6E125-3992-40D3-8F5D-71064DE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336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CD0AD-26E4-4FE1-BC28-51FEDF7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384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5AE19-F4D0-4454-9867-3577CCEB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89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tool used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988AB-5DB6-416B-B079-1D6C30E3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33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C0496-5626-4904-8BF9-B5B8EF6D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2422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success/failure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EAC41-A208-4CAA-A5E4-F7B0889B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290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8DDF9-DEAB-40A5-9C2E-7CD44E81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latency_ms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85D51-CA8E-4500-8A08-A6150CE2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24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D2DD4-5503-4EEF-BB5E-1D91214C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14775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2E404-EE56-40B3-9641-4DDC56E8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33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E33F7-408E-4C0D-A068-DE347DB8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Latency 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6E3B3-1DF9-4231-88D2-F4C9307C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Whisper: 1.5–3s</a:t>
            </a:r>
          </a:p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Context + RAG: 0.5–1s</a:t>
            </a:r>
          </a:p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Gemini: 1–2s</a:t>
            </a:r>
          </a:p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AppleScript/API: 0.5–2s</a:t>
            </a:r>
          </a:p>
          <a:p xmlns:a="http://schemas.openxmlformats.org/drawingml/2006/main">
            <a:pPr algn="l">
              <a:defRPr sz="1500" b="0">
                <a:solidFill>
                  <a:srgbClr val="050505"/>
                </a:solidFill>
              </a:defRPr>
            </a:pPr>
            <a:r>
              <a:rPr sz="1500" b="0">
                <a:solidFill>
                  <a:srgbClr val="050505"/>
                </a:solidFill>
              </a:rPr>
              <a:t>Typical: 4–8s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1EC85-8BC8-4B97-8833-44D318C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50505"/>
                </a:solidFill>
              </a:defRPr>
            </a:pPr>
            <a:r>
              <a:rPr sz="2175" b="1">
                <a:solidFill>
                  <a:srgbClr val="050505"/>
                </a:solidFill>
              </a:rPr>
              <a:t>Key tradeoff: slower than Siri, but more flexible and transparent.</a:t>
            </a:r>
          </a:p>
        </p:txBody>
      </p:sp>
    </p:spTree>
    <p:extLst>
      <p:ext uri="{BB962C8B-B14F-4D97-AF65-F5344CB8AC3E}">
        <p14:creationId xmlns:p14="http://schemas.microsoft.com/office/powerpoint/2010/main" val="1628013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75100B-4148-433E-B663-2E827FD4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SWIFT / TECHNICAL 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B6719-4E37-4055-B61A-A3EB3E4C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933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Design choices, tradeoffs,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BC58C-26C7-4023-9C5D-4FDFF20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EAA6-4B1C-4172-8CD1-881F0D5A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DESIGN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757D0-1D68-4D0B-913E-4EA44DE4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296EA-FDB9-4281-B922-D456565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33625"/>
            <a:ext cx="4543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Gemini function calling over classifier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030DA-BF1D-47DC-B957-042752CE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86CB5-59FC-4106-9982-38218A6D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4543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Fact-based memory over raw-turn retrieval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1F67F-CA95-456C-9F05-262C144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3B41A-357A-4BE2-AF5B-88D60E72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48025"/>
            <a:ext cx="4543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AppleScript first; Accessibility API as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2495E-D390-48B8-A97C-0820EB9A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2B421-0AF6-45ED-9447-E6E2B35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45434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Manual agent loop for full execution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A6027-E867-4E76-AB33-6053543C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MAIN TRADEOFFS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ADED8-76AF-485C-A350-4C47D14A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1C207-9E26-466A-BBC9-54C8A8A7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33625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Latency is higher than Siri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DFBD3-2048-4387-9140-112A875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03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EDB09-7E04-49AF-A69C-256EB24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90825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AppleScript limits app depth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475DF-5F30-47B7-A44F-2A2106DD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B7D3F-A6E0-4921-A2DF-485588AA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VAD does not identify the speaker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2DBD0-7A1D-4903-8ABA-85CA5155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C158BE-2DB6-4DE0-8E2E-4D7AB417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05225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50505"/>
                </a:solidFill>
              </a:defRPr>
            </a:pPr>
            <a:r>
              <a:rPr sz="1425" b="0">
                <a:solidFill>
                  <a:srgbClr val="050505"/>
                </a:solidFill>
              </a:rPr>
              <a:t>Gemini can still select the wrong tool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5B651-ADE9-465E-9803-AB1C7EDD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00625"/>
            <a:ext cx="10058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D360DF-6C1A-452A-8980-3DA0F8F8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Next: end-of-utterance detection, model caching, Accessibility API fallback, larger eval suite, streaming responses.</a:t>
            </a:r>
          </a:p>
        </p:txBody>
      </p:sp>
    </p:spTree>
    <p:extLst>
      <p:ext uri="{BB962C8B-B14F-4D97-AF65-F5344CB8AC3E}">
        <p14:creationId xmlns:p14="http://schemas.microsoft.com/office/powerpoint/2010/main" val="1197755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2026-06-29T23:45:02.2940000Z</dcterms:created>
  <dcterms:modified xsi:type="dcterms:W3CDTF">2026-06-29T23:45:02.2940000Z</dcterms:modified>
</coreProperties>
</file>